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900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24916" y="470661"/>
            <a:ext cx="3077210" cy="665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2669666"/>
            <a:ext cx="4036948" cy="418833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2892297"/>
            <a:ext cx="1522348" cy="2365502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608948" y="1676400"/>
            <a:ext cx="2819400" cy="281940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999348" y="-63"/>
            <a:ext cx="1603375" cy="1141412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605901" y="6095999"/>
            <a:ext cx="993736" cy="761998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398252" y="0"/>
            <a:ext cx="760488" cy="1203960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10437748" y="0"/>
            <a:ext cx="685800" cy="1143000"/>
          </a:xfrm>
          <a:custGeom>
            <a:avLst/>
            <a:gdLst/>
            <a:ahLst/>
            <a:cxnLst/>
            <a:rect l="l" t="t" r="r" b="b"/>
            <a:pathLst>
              <a:path w="685800" h="1143000">
                <a:moveTo>
                  <a:pt x="685800" y="0"/>
                </a:moveTo>
                <a:lnTo>
                  <a:pt x="0" y="0"/>
                </a:lnTo>
                <a:lnTo>
                  <a:pt x="0" y="1143000"/>
                </a:lnTo>
                <a:lnTo>
                  <a:pt x="685800" y="1143000"/>
                </a:lnTo>
                <a:lnTo>
                  <a:pt x="685800" y="0"/>
                </a:lnTo>
                <a:close/>
              </a:path>
            </a:pathLst>
          </a:custGeom>
          <a:solidFill>
            <a:srgbClr val="AF151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24916" y="472185"/>
            <a:ext cx="6402070" cy="665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39953" y="1657614"/>
            <a:ext cx="9345295" cy="2981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29867" y="583438"/>
            <a:ext cx="8080375" cy="247567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78943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Arial"/>
                <a:cs typeface="Arial"/>
              </a:rPr>
              <a:t>Title:</a:t>
            </a:r>
            <a:r>
              <a:rPr sz="3200" b="1" spc="-7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Personal</a:t>
            </a:r>
            <a:r>
              <a:rPr sz="3200" b="1" spc="-9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Financial</a:t>
            </a:r>
            <a:r>
              <a:rPr sz="3200" b="1" spc="-195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Advisor </a:t>
            </a:r>
            <a:r>
              <a:rPr sz="3200" b="1" spc="-20" dirty="0">
                <a:latin typeface="Arial"/>
                <a:cs typeface="Arial"/>
              </a:rPr>
              <a:t>Team:</a:t>
            </a:r>
            <a:r>
              <a:rPr sz="3200" b="1" spc="-120" dirty="0">
                <a:latin typeface="Arial"/>
                <a:cs typeface="Arial"/>
              </a:rPr>
              <a:t> </a:t>
            </a:r>
            <a:r>
              <a:rPr sz="3200" dirty="0">
                <a:latin typeface="Arial MT"/>
                <a:cs typeface="Arial MT"/>
              </a:rPr>
              <a:t>Project</a:t>
            </a:r>
            <a:r>
              <a:rPr sz="3200" spc="-185" dirty="0">
                <a:latin typeface="Arial MT"/>
                <a:cs typeface="Arial MT"/>
              </a:rPr>
              <a:t> </a:t>
            </a:r>
            <a:r>
              <a:rPr sz="3200" spc="-65" dirty="0">
                <a:latin typeface="Arial MT"/>
                <a:cs typeface="Arial MT"/>
              </a:rPr>
              <a:t>Team</a:t>
            </a:r>
            <a:r>
              <a:rPr sz="3200" spc="-135" dirty="0">
                <a:latin typeface="Arial MT"/>
                <a:cs typeface="Arial MT"/>
              </a:rPr>
              <a:t> </a:t>
            </a:r>
            <a:r>
              <a:rPr sz="3200" spc="-50" dirty="0">
                <a:latin typeface="Arial MT"/>
                <a:cs typeface="Arial MT"/>
              </a:rPr>
              <a:t>3</a:t>
            </a:r>
            <a:endParaRPr sz="32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3200" b="1" spc="-10" dirty="0">
                <a:latin typeface="Arial"/>
                <a:cs typeface="Arial"/>
              </a:rPr>
              <a:t>Members:</a:t>
            </a:r>
            <a:endParaRPr sz="3200" dirty="0">
              <a:latin typeface="Arial"/>
              <a:cs typeface="Arial"/>
            </a:endParaRPr>
          </a:p>
          <a:p>
            <a:pPr marL="12700" marR="1452245">
              <a:lnSpc>
                <a:spcPct val="100000"/>
              </a:lnSpc>
            </a:pPr>
            <a:r>
              <a:rPr lang="en-IN" sz="3200" b="1" dirty="0">
                <a:latin typeface="Arial"/>
                <a:cs typeface="Arial"/>
              </a:rPr>
              <a:t>Sham Solanki</a:t>
            </a:r>
            <a:r>
              <a:rPr sz="3200" dirty="0">
                <a:latin typeface="Arial MT"/>
                <a:cs typeface="Arial MT"/>
              </a:rPr>
              <a:t>-</a:t>
            </a:r>
            <a:r>
              <a:rPr sz="3200" spc="-4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ML</a:t>
            </a:r>
            <a:r>
              <a:rPr sz="3200" spc="-15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Engineer </a:t>
            </a:r>
            <a:r>
              <a:rPr sz="3200" b="1" dirty="0">
                <a:latin typeface="Arial"/>
                <a:cs typeface="Arial"/>
              </a:rPr>
              <a:t>Muskan</a:t>
            </a:r>
            <a:r>
              <a:rPr sz="3200" b="1" spc="-6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Chauhan</a:t>
            </a:r>
            <a:r>
              <a:rPr sz="3200" b="1" spc="-65" dirty="0">
                <a:latin typeface="Arial"/>
                <a:cs typeface="Arial"/>
              </a:rPr>
              <a:t> </a:t>
            </a:r>
            <a:r>
              <a:rPr sz="3200" dirty="0">
                <a:latin typeface="Arial MT"/>
                <a:cs typeface="Arial MT"/>
              </a:rPr>
              <a:t>–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Cloud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10" dirty="0">
                <a:latin typeface="Arial MT"/>
                <a:cs typeface="Arial MT"/>
              </a:rPr>
              <a:t>Engineer</a:t>
            </a:r>
            <a:endParaRPr sz="32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916" y="476758"/>
            <a:ext cx="442214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latin typeface="Tahoma"/>
                <a:cs typeface="Tahoma"/>
              </a:rPr>
              <a:t>Project </a:t>
            </a:r>
            <a:r>
              <a:rPr spc="-70" dirty="0">
                <a:latin typeface="Tahoma"/>
                <a:cs typeface="Tahoma"/>
              </a:rPr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4916" y="1409141"/>
            <a:ext cx="10374630" cy="4985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Arial"/>
                <a:cs typeface="Arial"/>
              </a:rPr>
              <a:t>Problem:</a:t>
            </a:r>
            <a:endParaRPr sz="2400">
              <a:latin typeface="Arial"/>
              <a:cs typeface="Arial"/>
            </a:endParaRPr>
          </a:p>
          <a:p>
            <a:pPr marL="12700" marR="5080" indent="252729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 MT"/>
                <a:cs typeface="Arial MT"/>
              </a:rPr>
              <a:t>Users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struggle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track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savings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detect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overspending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raw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expense data.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2400" b="1" dirty="0">
                <a:latin typeface="Arial"/>
                <a:cs typeface="Arial"/>
              </a:rPr>
              <a:t>Objective:</a:t>
            </a:r>
            <a:r>
              <a:rPr sz="2400" b="1" spc="-10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Build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intelligent,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interactive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platform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to:</a:t>
            </a:r>
            <a:endParaRPr sz="2400">
              <a:latin typeface="Arial MT"/>
              <a:cs typeface="Arial MT"/>
            </a:endParaRPr>
          </a:p>
          <a:p>
            <a:pPr marL="118745" indent="-114300">
              <a:lnSpc>
                <a:spcPct val="100000"/>
              </a:lnSpc>
              <a:buSzPct val="95833"/>
              <a:buChar char="•"/>
              <a:tabLst>
                <a:tab pos="118745" algn="l"/>
              </a:tabLst>
            </a:pPr>
            <a:r>
              <a:rPr sz="2400" dirty="0">
                <a:latin typeface="Arial MT"/>
                <a:cs typeface="Arial MT"/>
              </a:rPr>
              <a:t>Predict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actual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savings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rate</a:t>
            </a:r>
            <a:endParaRPr sz="2400">
              <a:latin typeface="Arial MT"/>
              <a:cs typeface="Arial MT"/>
            </a:endParaRPr>
          </a:p>
          <a:p>
            <a:pPr marL="118745" indent="-114300">
              <a:lnSpc>
                <a:spcPct val="100000"/>
              </a:lnSpc>
              <a:buSzPct val="95833"/>
              <a:buChar char="•"/>
              <a:tabLst>
                <a:tab pos="118745" algn="l"/>
              </a:tabLst>
            </a:pPr>
            <a:r>
              <a:rPr sz="2400" dirty="0">
                <a:latin typeface="Arial MT"/>
                <a:cs typeface="Arial MT"/>
              </a:rPr>
              <a:t>Flag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overspending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patterns</a:t>
            </a:r>
            <a:endParaRPr sz="2400">
              <a:latin typeface="Arial MT"/>
              <a:cs typeface="Arial MT"/>
            </a:endParaRPr>
          </a:p>
          <a:p>
            <a:pPr marL="118745" indent="-114300">
              <a:lnSpc>
                <a:spcPct val="100000"/>
              </a:lnSpc>
              <a:buSzPct val="95833"/>
              <a:buChar char="•"/>
              <a:tabLst>
                <a:tab pos="118745" algn="l"/>
              </a:tabLst>
            </a:pPr>
            <a:r>
              <a:rPr sz="2400" dirty="0">
                <a:latin typeface="Arial MT"/>
                <a:cs typeface="Arial MT"/>
              </a:rPr>
              <a:t>Provide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visual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chatbot-</a:t>
            </a:r>
            <a:r>
              <a:rPr sz="2400" dirty="0">
                <a:latin typeface="Arial MT"/>
                <a:cs typeface="Arial MT"/>
              </a:rPr>
              <a:t>based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guidance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5"/>
              </a:spcBef>
              <a:buFont typeface="Arial MT"/>
              <a:buChar char="•"/>
            </a:pPr>
            <a:endParaRPr sz="2400">
              <a:latin typeface="Arial MT"/>
              <a:cs typeface="Arial MT"/>
            </a:endParaRPr>
          </a:p>
          <a:p>
            <a:pPr marL="12700">
              <a:lnSpc>
                <a:spcPts val="2875"/>
              </a:lnSpc>
            </a:pPr>
            <a:r>
              <a:rPr sz="2400" b="1" spc="-140" dirty="0">
                <a:latin typeface="Tahoma"/>
                <a:cs typeface="Tahoma"/>
              </a:rPr>
              <a:t>Business</a:t>
            </a:r>
            <a:r>
              <a:rPr sz="2400" b="1" spc="-55" dirty="0">
                <a:latin typeface="Tahoma"/>
                <a:cs typeface="Tahoma"/>
              </a:rPr>
              <a:t> </a:t>
            </a:r>
            <a:r>
              <a:rPr sz="2400" b="1" dirty="0">
                <a:latin typeface="Tahoma"/>
                <a:cs typeface="Tahoma"/>
              </a:rPr>
              <a:t>Value</a:t>
            </a:r>
            <a:r>
              <a:rPr sz="2400" b="1" spc="-80" dirty="0">
                <a:latin typeface="Tahoma"/>
                <a:cs typeface="Tahoma"/>
              </a:rPr>
              <a:t> </a:t>
            </a:r>
            <a:r>
              <a:rPr sz="2400" b="1" spc="-250" dirty="0">
                <a:latin typeface="Tahoma"/>
                <a:cs typeface="Tahoma"/>
              </a:rPr>
              <a:t>&amp;</a:t>
            </a:r>
            <a:r>
              <a:rPr sz="2400" b="1" spc="-20" dirty="0">
                <a:latin typeface="Tahoma"/>
                <a:cs typeface="Tahoma"/>
              </a:rPr>
              <a:t> </a:t>
            </a:r>
            <a:r>
              <a:rPr sz="2400" b="1" spc="-40" dirty="0">
                <a:latin typeface="Tahoma"/>
                <a:cs typeface="Tahoma"/>
              </a:rPr>
              <a:t>Impact </a:t>
            </a:r>
            <a:r>
              <a:rPr sz="2400" b="1" spc="-50" dirty="0">
                <a:latin typeface="Tahoma"/>
                <a:cs typeface="Tahoma"/>
              </a:rPr>
              <a:t>:</a:t>
            </a:r>
            <a:endParaRPr sz="2400">
              <a:latin typeface="Tahoma"/>
              <a:cs typeface="Tahoma"/>
            </a:endParaRPr>
          </a:p>
          <a:p>
            <a:pPr marL="354965" indent="-342265">
              <a:lnSpc>
                <a:spcPts val="2875"/>
              </a:lnSpc>
              <a:buSzPct val="95833"/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Helps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users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understand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financial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health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real-</a:t>
            </a:r>
            <a:r>
              <a:rPr sz="2400" spc="-20" dirty="0">
                <a:latin typeface="Arial MT"/>
                <a:cs typeface="Arial MT"/>
              </a:rPr>
              <a:t>time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SzPct val="95833"/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Recommends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actionable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insights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meet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savings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goals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SzPct val="95833"/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Prevents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over-</a:t>
            </a:r>
            <a:r>
              <a:rPr sz="2400" dirty="0">
                <a:latin typeface="Arial MT"/>
                <a:cs typeface="Arial MT"/>
              </a:rPr>
              <a:t>budgeting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supports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better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planning</a:t>
            </a:r>
            <a:endParaRPr sz="2400">
              <a:latin typeface="Arial MT"/>
              <a:cs typeface="Arial MT"/>
            </a:endParaRPr>
          </a:p>
          <a:p>
            <a:pPr marL="354965" indent="-342265">
              <a:lnSpc>
                <a:spcPct val="100000"/>
              </a:lnSpc>
              <a:buSzPct val="95833"/>
              <a:buChar char="•"/>
              <a:tabLst>
                <a:tab pos="354965" algn="l"/>
              </a:tabLst>
            </a:pPr>
            <a:r>
              <a:rPr sz="2400" dirty="0">
                <a:latin typeface="Arial MT"/>
                <a:cs typeface="Arial MT"/>
              </a:rPr>
              <a:t>Deployed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on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cloud: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accessible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anywhere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7892" y="119837"/>
            <a:ext cx="453199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Architecture</a:t>
            </a:r>
            <a:r>
              <a:rPr spc="-25" dirty="0"/>
              <a:t> </a:t>
            </a:r>
            <a:r>
              <a:rPr spc="-20" dirty="0"/>
              <a:t>Flow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8254" y="979658"/>
            <a:ext cx="4555362" cy="57759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17625" algn="l"/>
              </a:tabLst>
            </a:pPr>
            <a:r>
              <a:rPr spc="-20" dirty="0"/>
              <a:t>Data</a:t>
            </a:r>
            <a:r>
              <a:rPr dirty="0"/>
              <a:t>	</a:t>
            </a:r>
            <a:r>
              <a:rPr spc="-10" dirty="0"/>
              <a:t>Preprocessing(ETL)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2116" y="1230629"/>
            <a:ext cx="10483850" cy="506476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Arial MT"/>
                <a:cs typeface="Arial MT"/>
              </a:rPr>
              <a:t>Dataset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: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spc="-35" dirty="0">
                <a:latin typeface="Arial MT"/>
                <a:cs typeface="Arial MT"/>
              </a:rPr>
              <a:t>Total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Records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275000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  <a:tab pos="606742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Arial MT"/>
                <a:cs typeface="Arial MT"/>
              </a:rPr>
              <a:t>Null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values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Income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[5454]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1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Age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[5420]</a:t>
            </a:r>
            <a:r>
              <a:rPr sz="2400" dirty="0">
                <a:latin typeface="Arial MT"/>
                <a:cs typeface="Arial MT"/>
              </a:rPr>
              <a:t>	,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random_note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[137319]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,</a:t>
            </a:r>
            <a:endParaRPr sz="2400">
              <a:latin typeface="Arial MT"/>
              <a:cs typeface="Arial MT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Arial MT"/>
                <a:cs typeface="Arial MT"/>
              </a:rPr>
              <a:t>temp_value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[137366]</a:t>
            </a:r>
            <a:endParaRPr sz="2400">
              <a:latin typeface="Arial MT"/>
              <a:cs typeface="Arial MT"/>
            </a:endParaRPr>
          </a:p>
          <a:p>
            <a:pPr marL="355600" marR="359410" indent="-342900">
              <a:lnSpc>
                <a:spcPct val="10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Arial MT"/>
                <a:cs typeface="Arial MT"/>
              </a:rPr>
              <a:t>So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this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case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drop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null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records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cannot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impute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if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impute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meaning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less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  <a:tab pos="286448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10" dirty="0">
                <a:latin typeface="Arial MT"/>
                <a:cs typeface="Arial MT"/>
              </a:rPr>
              <a:t> random_note</a:t>
            </a:r>
            <a:r>
              <a:rPr sz="2400" dirty="0">
                <a:latin typeface="Arial MT"/>
                <a:cs typeface="Arial MT"/>
              </a:rPr>
              <a:t>	and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temp_value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there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more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50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%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null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records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Arial MT"/>
                <a:cs typeface="Arial MT"/>
              </a:rPr>
              <a:t>So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drop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these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columns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&amp;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these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two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columns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meaning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less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our </a:t>
            </a:r>
            <a:r>
              <a:rPr sz="2400" spc="-10" dirty="0">
                <a:latin typeface="Arial MT"/>
                <a:cs typeface="Arial MT"/>
              </a:rPr>
              <a:t>needs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save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cleaned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file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csv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mode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Arial MT"/>
                <a:cs typeface="Arial MT"/>
              </a:rPr>
              <a:t>Cleand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data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size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now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255381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916" y="183641"/>
            <a:ext cx="912939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" dirty="0">
                <a:latin typeface="Tahoma"/>
                <a:cs typeface="Tahoma"/>
              </a:rPr>
              <a:t>Exploratory</a:t>
            </a:r>
            <a:r>
              <a:rPr spc="-150" dirty="0">
                <a:latin typeface="Tahoma"/>
                <a:cs typeface="Tahoma"/>
              </a:rPr>
              <a:t> </a:t>
            </a:r>
            <a:r>
              <a:rPr spc="-25" dirty="0">
                <a:latin typeface="Tahoma"/>
                <a:cs typeface="Tahoma"/>
              </a:rPr>
              <a:t>Data</a:t>
            </a:r>
            <a:r>
              <a:rPr spc="-235" dirty="0">
                <a:latin typeface="Tahoma"/>
                <a:cs typeface="Tahoma"/>
              </a:rPr>
              <a:t> </a:t>
            </a:r>
            <a:r>
              <a:rPr spc="-90" dirty="0">
                <a:latin typeface="Tahoma"/>
                <a:cs typeface="Tahoma"/>
              </a:rPr>
              <a:t>Analysis</a:t>
            </a:r>
            <a:r>
              <a:rPr spc="-120" dirty="0">
                <a:latin typeface="Tahoma"/>
                <a:cs typeface="Tahoma"/>
              </a:rPr>
              <a:t> </a:t>
            </a:r>
            <a:r>
              <a:rPr spc="-465" dirty="0">
                <a:latin typeface="Tahoma"/>
                <a:cs typeface="Tahoma"/>
              </a:rPr>
              <a:t>&amp;</a:t>
            </a:r>
            <a:r>
              <a:rPr spc="-60" dirty="0">
                <a:latin typeface="Tahoma"/>
                <a:cs typeface="Tahoma"/>
              </a:rPr>
              <a:t> </a:t>
            </a:r>
            <a:r>
              <a:rPr spc="-315" dirty="0">
                <a:latin typeface="Tahoma"/>
                <a:cs typeface="Tahoma"/>
              </a:rPr>
              <a:t>Insights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4916" y="1118108"/>
            <a:ext cx="9991090" cy="4719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5255" indent="-133350">
              <a:lnSpc>
                <a:spcPct val="100000"/>
              </a:lnSpc>
              <a:spcBef>
                <a:spcPts val="95"/>
              </a:spcBef>
              <a:buSzPct val="96428"/>
              <a:buChar char="•"/>
              <a:tabLst>
                <a:tab pos="135255" algn="l"/>
              </a:tabLst>
            </a:pPr>
            <a:r>
              <a:rPr sz="2800" dirty="0">
                <a:latin typeface="Arial MT"/>
                <a:cs typeface="Arial MT"/>
              </a:rPr>
              <a:t>Loaded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dataset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checked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shape,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info,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summary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stats</a:t>
            </a:r>
            <a:endParaRPr sz="2800">
              <a:latin typeface="Arial MT"/>
              <a:cs typeface="Arial MT"/>
            </a:endParaRPr>
          </a:p>
          <a:p>
            <a:pPr marL="135255" indent="-133350">
              <a:lnSpc>
                <a:spcPct val="100000"/>
              </a:lnSpc>
              <a:buSzPct val="96428"/>
              <a:buChar char="•"/>
              <a:tabLst>
                <a:tab pos="135255" algn="l"/>
              </a:tabLst>
            </a:pPr>
            <a:r>
              <a:rPr sz="2800" dirty="0">
                <a:latin typeface="Arial MT"/>
                <a:cs typeface="Arial MT"/>
              </a:rPr>
              <a:t>Removed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nulls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verified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missing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values</a:t>
            </a:r>
            <a:endParaRPr sz="2800">
              <a:latin typeface="Arial MT"/>
              <a:cs typeface="Arial MT"/>
            </a:endParaRPr>
          </a:p>
          <a:p>
            <a:pPr marL="135255" indent="-133350">
              <a:lnSpc>
                <a:spcPct val="100000"/>
              </a:lnSpc>
              <a:buSzPct val="96428"/>
              <a:buChar char="•"/>
              <a:tabLst>
                <a:tab pos="135255" algn="l"/>
              </a:tabLst>
            </a:pPr>
            <a:r>
              <a:rPr sz="2800" dirty="0">
                <a:latin typeface="Arial MT"/>
                <a:cs typeface="Arial MT"/>
              </a:rPr>
              <a:t>Engineered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new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features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like:</a:t>
            </a:r>
            <a:endParaRPr sz="2800">
              <a:latin typeface="Arial MT"/>
              <a:cs typeface="Arial MT"/>
            </a:endParaRPr>
          </a:p>
          <a:p>
            <a:pPr marL="592455" lvl="1" indent="-133350">
              <a:lnSpc>
                <a:spcPct val="100000"/>
              </a:lnSpc>
              <a:buSzPct val="96428"/>
              <a:buChar char="•"/>
              <a:tabLst>
                <a:tab pos="592455" algn="l"/>
              </a:tabLst>
            </a:pPr>
            <a:r>
              <a:rPr sz="2800" spc="-10" dirty="0">
                <a:latin typeface="Arial MT"/>
                <a:cs typeface="Arial MT"/>
              </a:rPr>
              <a:t>Spending_Rate,</a:t>
            </a:r>
            <a:r>
              <a:rPr sz="2800" spc="-15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Actual_Savings_Rate,</a:t>
            </a:r>
            <a:r>
              <a:rPr sz="2800" spc="-2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Savings_Gap</a:t>
            </a:r>
            <a:endParaRPr sz="2800">
              <a:latin typeface="Arial MT"/>
              <a:cs typeface="Arial MT"/>
            </a:endParaRPr>
          </a:p>
          <a:p>
            <a:pPr marL="135255" indent="-133350">
              <a:lnSpc>
                <a:spcPct val="100000"/>
              </a:lnSpc>
              <a:buSzPct val="96428"/>
              <a:buChar char="•"/>
              <a:tabLst>
                <a:tab pos="135255" algn="l"/>
              </a:tabLst>
            </a:pPr>
            <a:r>
              <a:rPr sz="2800" dirty="0">
                <a:latin typeface="Arial MT"/>
                <a:cs typeface="Arial MT"/>
              </a:rPr>
              <a:t>Created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Overspend_Flag</a:t>
            </a:r>
            <a:r>
              <a:rPr sz="2800" spc="-7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classification</a:t>
            </a:r>
            <a:endParaRPr sz="2800">
              <a:latin typeface="Arial MT"/>
              <a:cs typeface="Arial MT"/>
            </a:endParaRPr>
          </a:p>
          <a:p>
            <a:pPr marL="135255" indent="-133350">
              <a:lnSpc>
                <a:spcPct val="100000"/>
              </a:lnSpc>
              <a:buSzPct val="96428"/>
              <a:buChar char="•"/>
              <a:tabLst>
                <a:tab pos="135255" algn="l"/>
              </a:tabLst>
            </a:pPr>
            <a:r>
              <a:rPr sz="2800" dirty="0">
                <a:latin typeface="Arial MT"/>
                <a:cs typeface="Arial MT"/>
              </a:rPr>
              <a:t>Encoded</a:t>
            </a:r>
            <a:r>
              <a:rPr sz="2800" spc="-1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categorical</a:t>
            </a:r>
            <a:r>
              <a:rPr sz="2800" spc="-1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columns:</a:t>
            </a:r>
            <a:r>
              <a:rPr sz="2800" spc="-1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Occupation,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City_Tier</a:t>
            </a:r>
            <a:endParaRPr sz="2800">
              <a:latin typeface="Arial MT"/>
              <a:cs typeface="Arial MT"/>
            </a:endParaRPr>
          </a:p>
          <a:p>
            <a:pPr marL="135255" indent="-133350">
              <a:lnSpc>
                <a:spcPct val="100000"/>
              </a:lnSpc>
              <a:spcBef>
                <a:spcPts val="5"/>
              </a:spcBef>
              <a:buSzPct val="96428"/>
              <a:buChar char="•"/>
              <a:tabLst>
                <a:tab pos="135255" algn="l"/>
              </a:tabLst>
            </a:pPr>
            <a:r>
              <a:rPr sz="2800" dirty="0">
                <a:latin typeface="Arial MT"/>
                <a:cs typeface="Arial MT"/>
              </a:rPr>
              <a:t>Visualized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distributions:</a:t>
            </a:r>
            <a:r>
              <a:rPr sz="2800" spc="-13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Income,</a:t>
            </a:r>
            <a:r>
              <a:rPr sz="2800" spc="-114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Savings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Rate,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Spending</a:t>
            </a:r>
            <a:r>
              <a:rPr sz="2800" spc="-100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Rate</a:t>
            </a:r>
            <a:endParaRPr sz="2800">
              <a:latin typeface="Arial MT"/>
              <a:cs typeface="Arial MT"/>
            </a:endParaRPr>
          </a:p>
          <a:p>
            <a:pPr marL="135255" indent="-133350">
              <a:lnSpc>
                <a:spcPct val="100000"/>
              </a:lnSpc>
              <a:buSzPct val="96428"/>
              <a:buChar char="•"/>
              <a:tabLst>
                <a:tab pos="135255" algn="l"/>
              </a:tabLst>
            </a:pPr>
            <a:r>
              <a:rPr sz="2800" dirty="0">
                <a:latin typeface="Arial MT"/>
                <a:cs typeface="Arial MT"/>
              </a:rPr>
              <a:t>Analyzed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overspending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by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Occupation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and</a:t>
            </a:r>
            <a:r>
              <a:rPr sz="2800" spc="-9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City</a:t>
            </a:r>
            <a:r>
              <a:rPr sz="2800" spc="-135" dirty="0">
                <a:latin typeface="Arial MT"/>
                <a:cs typeface="Arial MT"/>
              </a:rPr>
              <a:t> </a:t>
            </a:r>
            <a:r>
              <a:rPr sz="2800" spc="-20" dirty="0">
                <a:latin typeface="Arial MT"/>
                <a:cs typeface="Arial MT"/>
              </a:rPr>
              <a:t>Tier</a:t>
            </a:r>
            <a:endParaRPr sz="2800">
              <a:latin typeface="Arial MT"/>
              <a:cs typeface="Arial MT"/>
            </a:endParaRPr>
          </a:p>
          <a:p>
            <a:pPr marL="135255" indent="-133350">
              <a:lnSpc>
                <a:spcPct val="100000"/>
              </a:lnSpc>
              <a:buSzPct val="96428"/>
              <a:buChar char="•"/>
              <a:tabLst>
                <a:tab pos="135255" algn="l"/>
              </a:tabLst>
            </a:pPr>
            <a:r>
              <a:rPr sz="2800" dirty="0">
                <a:latin typeface="Arial MT"/>
                <a:cs typeface="Arial MT"/>
              </a:rPr>
              <a:t>Plotted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boxplot: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Income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vs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Overspend</a:t>
            </a:r>
            <a:endParaRPr sz="2800">
              <a:latin typeface="Arial MT"/>
              <a:cs typeface="Arial MT"/>
            </a:endParaRPr>
          </a:p>
          <a:p>
            <a:pPr marL="135255" indent="-133350">
              <a:lnSpc>
                <a:spcPct val="100000"/>
              </a:lnSpc>
              <a:buSzPct val="96428"/>
              <a:buChar char="•"/>
              <a:tabLst>
                <a:tab pos="135255" algn="l"/>
              </a:tabLst>
            </a:pPr>
            <a:r>
              <a:rPr sz="2800" dirty="0">
                <a:latin typeface="Arial MT"/>
                <a:cs typeface="Arial MT"/>
              </a:rPr>
              <a:t>Correlation</a:t>
            </a:r>
            <a:r>
              <a:rPr sz="2800" spc="-8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heatmap</a:t>
            </a:r>
            <a:r>
              <a:rPr sz="2800" spc="-8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feature</a:t>
            </a:r>
            <a:r>
              <a:rPr sz="2800" spc="-9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relationships</a:t>
            </a:r>
            <a:endParaRPr sz="2800">
              <a:latin typeface="Arial MT"/>
              <a:cs typeface="Arial MT"/>
            </a:endParaRPr>
          </a:p>
          <a:p>
            <a:pPr marL="135255" indent="-133350">
              <a:lnSpc>
                <a:spcPct val="100000"/>
              </a:lnSpc>
              <a:buSzPct val="96428"/>
              <a:buChar char="•"/>
              <a:tabLst>
                <a:tab pos="135255" algn="l"/>
              </a:tabLst>
            </a:pPr>
            <a:r>
              <a:rPr sz="2800" dirty="0">
                <a:latin typeface="Arial MT"/>
                <a:cs typeface="Arial MT"/>
              </a:rPr>
              <a:t>Checked</a:t>
            </a:r>
            <a:r>
              <a:rPr sz="2800" spc="-12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multicollinearity</a:t>
            </a:r>
            <a:r>
              <a:rPr sz="2800" spc="-11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using</a:t>
            </a:r>
            <a:r>
              <a:rPr sz="2800" spc="-120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VIF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ML</a:t>
            </a:r>
            <a:r>
              <a:rPr spc="-90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2116" y="1229360"/>
            <a:ext cx="9673590" cy="495363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b="1" dirty="0">
                <a:latin typeface="Arial"/>
                <a:cs typeface="Arial"/>
              </a:rPr>
              <a:t>*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Overspending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Detection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(Classification)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b="1" dirty="0">
                <a:latin typeface="Arial"/>
                <a:cs typeface="Arial"/>
              </a:rPr>
              <a:t>Models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Tried</a:t>
            </a:r>
            <a:r>
              <a:rPr sz="2400" spc="-10" dirty="0">
                <a:latin typeface="Arial MT"/>
                <a:cs typeface="Arial MT"/>
              </a:rPr>
              <a:t>: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Logistic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Regression,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Random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Forest,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LightGBM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b="1" dirty="0">
                <a:latin typeface="Arial"/>
                <a:cs typeface="Arial"/>
              </a:rPr>
              <a:t>Best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Model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LightGBM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(F1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0.59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Recall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0.99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,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accuracy</a:t>
            </a:r>
            <a:r>
              <a:rPr sz="2400" b="1" spc="-1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=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0.90</a:t>
            </a:r>
            <a:r>
              <a:rPr sz="2400" spc="-10" dirty="0">
                <a:latin typeface="Arial MT"/>
                <a:cs typeface="Arial MT"/>
              </a:rPr>
              <a:t>)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b="1" dirty="0">
                <a:latin typeface="Arial"/>
                <a:cs typeface="Arial"/>
              </a:rPr>
              <a:t>Why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Best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trade-</a:t>
            </a:r>
            <a:r>
              <a:rPr sz="2400" dirty="0">
                <a:latin typeface="Arial MT"/>
                <a:cs typeface="Arial MT"/>
              </a:rPr>
              <a:t>off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between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accuracy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recall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minority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class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b="1" dirty="0">
                <a:latin typeface="Arial"/>
                <a:cs typeface="Arial"/>
              </a:rPr>
              <a:t>Metrics</a:t>
            </a:r>
            <a:r>
              <a:rPr sz="2400" b="1" spc="-9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Used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F1-</a:t>
            </a:r>
            <a:r>
              <a:rPr sz="2400" dirty="0">
                <a:latin typeface="Arial MT"/>
                <a:cs typeface="Arial MT"/>
              </a:rPr>
              <a:t>Score,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Recall,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Confusion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Matrix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b="1" dirty="0">
                <a:latin typeface="Arial"/>
                <a:cs typeface="Arial"/>
              </a:rPr>
              <a:t>*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Savings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Rate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Prediction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(Regression)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b="1" dirty="0">
                <a:latin typeface="Arial"/>
                <a:cs typeface="Arial"/>
              </a:rPr>
              <a:t>Models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Tried</a:t>
            </a:r>
            <a:r>
              <a:rPr sz="2400" spc="-10" dirty="0">
                <a:latin typeface="Arial MT"/>
                <a:cs typeface="Arial MT"/>
              </a:rPr>
              <a:t>: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Random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Forest,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Gradient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Boosting,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LightGBM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b="1" dirty="0">
                <a:latin typeface="Arial"/>
                <a:cs typeface="Arial"/>
              </a:rPr>
              <a:t>Best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Model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Random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Forest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(R²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0.91</a:t>
            </a:r>
            <a:r>
              <a:rPr sz="2400" dirty="0">
                <a:latin typeface="Arial MT"/>
                <a:cs typeface="Arial MT"/>
              </a:rPr>
              <a:t>,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b="1" spc="-10" dirty="0">
                <a:latin typeface="Arial"/>
                <a:cs typeface="Arial"/>
              </a:rPr>
              <a:t>0.0218</a:t>
            </a:r>
            <a:r>
              <a:rPr sz="2400" spc="-10" dirty="0">
                <a:latin typeface="Arial MT"/>
                <a:cs typeface="Arial MT"/>
              </a:rPr>
              <a:t>)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b="1" dirty="0">
                <a:latin typeface="Arial"/>
                <a:cs typeface="Arial"/>
              </a:rPr>
              <a:t>Why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Highest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prediction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accuracy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minimal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error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b="1" dirty="0">
                <a:latin typeface="Arial"/>
                <a:cs typeface="Arial"/>
              </a:rPr>
              <a:t>Metrics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Used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RMSE,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MAE,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R²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Score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196" y="17475"/>
            <a:ext cx="642683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Application</a:t>
            </a:r>
            <a:r>
              <a:rPr spc="-40" dirty="0"/>
              <a:t> </a:t>
            </a:r>
            <a:r>
              <a:rPr spc="-10" dirty="0"/>
              <a:t>Development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91997" y="597311"/>
            <a:ext cx="8616950" cy="623506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  <a:tabLst>
                <a:tab pos="354965" algn="l"/>
              </a:tabLst>
            </a:pPr>
            <a:r>
              <a:rPr sz="1800" spc="13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8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300" b="1" dirty="0">
                <a:latin typeface="Arial"/>
                <a:cs typeface="Arial"/>
              </a:rPr>
              <a:t>Frontend</a:t>
            </a:r>
            <a:r>
              <a:rPr sz="2300" b="1" spc="-50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(HTML</a:t>
            </a:r>
            <a:r>
              <a:rPr sz="2300" b="1" spc="-65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+</a:t>
            </a:r>
            <a:r>
              <a:rPr sz="2300" b="1" spc="-25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CSS) </a:t>
            </a:r>
            <a:r>
              <a:rPr sz="2300" b="1" spc="-50" dirty="0">
                <a:latin typeface="Arial"/>
                <a:cs typeface="Arial"/>
              </a:rPr>
              <a:t>: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800" spc="13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8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300" dirty="0">
                <a:latin typeface="Arial MT"/>
                <a:cs typeface="Arial MT"/>
              </a:rPr>
              <a:t>Collects</a:t>
            </a:r>
            <a:r>
              <a:rPr sz="2300" spc="-5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user</a:t>
            </a:r>
            <a:r>
              <a:rPr sz="2300" spc="-4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inputs</a:t>
            </a:r>
            <a:r>
              <a:rPr sz="2300" spc="-4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via</a:t>
            </a:r>
            <a:r>
              <a:rPr sz="2300" spc="-1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interactive</a:t>
            </a:r>
            <a:r>
              <a:rPr sz="2300" spc="-45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forms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800" spc="13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8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300" dirty="0">
                <a:latin typeface="Arial MT"/>
                <a:cs typeface="Arial MT"/>
              </a:rPr>
              <a:t>Displays</a:t>
            </a:r>
            <a:r>
              <a:rPr sz="2300" spc="-5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savings</a:t>
            </a:r>
            <a:r>
              <a:rPr sz="2300" spc="-3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insights,</a:t>
            </a:r>
            <a:r>
              <a:rPr sz="2300" spc="-5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pie</a:t>
            </a:r>
            <a:r>
              <a:rPr sz="2300" spc="-2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charts</a:t>
            </a:r>
            <a:r>
              <a:rPr sz="2300" spc="-3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&amp;</a:t>
            </a:r>
            <a:r>
              <a:rPr sz="2300" spc="-15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feedback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800" spc="13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8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300" dirty="0">
                <a:latin typeface="Arial MT"/>
                <a:cs typeface="Arial MT"/>
              </a:rPr>
              <a:t>Integrated</a:t>
            </a:r>
            <a:r>
              <a:rPr sz="2300" spc="-35" dirty="0">
                <a:latin typeface="Arial MT"/>
                <a:cs typeface="Arial MT"/>
              </a:rPr>
              <a:t> </a:t>
            </a:r>
            <a:r>
              <a:rPr sz="2300" b="1" dirty="0">
                <a:latin typeface="Arial"/>
                <a:cs typeface="Arial"/>
              </a:rPr>
              <a:t>Gemini</a:t>
            </a:r>
            <a:r>
              <a:rPr sz="2300" b="1" spc="-55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Chatbot</a:t>
            </a:r>
            <a:r>
              <a:rPr sz="2300" b="1" spc="-60" dirty="0">
                <a:latin typeface="Arial"/>
                <a:cs typeface="Arial"/>
              </a:rPr>
              <a:t> </a:t>
            </a:r>
            <a:r>
              <a:rPr sz="2300" dirty="0">
                <a:latin typeface="Arial MT"/>
                <a:cs typeface="Arial MT"/>
              </a:rPr>
              <a:t>for</a:t>
            </a:r>
            <a:r>
              <a:rPr sz="2300" spc="-4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financial</a:t>
            </a:r>
            <a:r>
              <a:rPr sz="2300" spc="-60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guidance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800" spc="13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8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300" b="1" dirty="0">
                <a:latin typeface="Arial"/>
                <a:cs typeface="Arial"/>
              </a:rPr>
              <a:t>Flask</a:t>
            </a:r>
            <a:r>
              <a:rPr sz="2300" b="1" spc="-55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Backend</a:t>
            </a:r>
            <a:r>
              <a:rPr sz="2300" b="1" spc="-75" dirty="0">
                <a:latin typeface="Arial"/>
                <a:cs typeface="Arial"/>
              </a:rPr>
              <a:t> </a:t>
            </a:r>
            <a:r>
              <a:rPr sz="2300" b="1" spc="-50" dirty="0">
                <a:latin typeface="Arial"/>
                <a:cs typeface="Arial"/>
              </a:rPr>
              <a:t>: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800" spc="13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8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300" dirty="0">
                <a:latin typeface="Arial MT"/>
                <a:cs typeface="Arial MT"/>
              </a:rPr>
              <a:t>Handles</a:t>
            </a:r>
            <a:r>
              <a:rPr sz="2300" spc="-6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input</a:t>
            </a:r>
            <a:r>
              <a:rPr sz="2300" spc="-5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preprocessing</a:t>
            </a:r>
            <a:r>
              <a:rPr sz="2300" spc="-7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&amp;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model</a:t>
            </a:r>
            <a:r>
              <a:rPr sz="2300" spc="-60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loading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800" spc="13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8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300" dirty="0">
                <a:latin typeface="Arial MT"/>
                <a:cs typeface="Arial MT"/>
              </a:rPr>
              <a:t>Serves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real-</a:t>
            </a:r>
            <a:r>
              <a:rPr sz="2300" dirty="0">
                <a:latin typeface="Arial MT"/>
                <a:cs typeface="Arial MT"/>
              </a:rPr>
              <a:t>time</a:t>
            </a:r>
            <a:r>
              <a:rPr sz="2300" spc="-5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predictions</a:t>
            </a:r>
            <a:r>
              <a:rPr sz="2300" spc="-5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via</a:t>
            </a:r>
            <a:r>
              <a:rPr sz="2300" spc="-1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Flask</a:t>
            </a:r>
            <a:r>
              <a:rPr sz="2300" spc="-40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routes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800" spc="13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8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300" b="1" dirty="0">
                <a:latin typeface="Arial"/>
                <a:cs typeface="Arial"/>
              </a:rPr>
              <a:t>Integration</a:t>
            </a:r>
            <a:r>
              <a:rPr sz="2300" b="1" spc="-35" dirty="0">
                <a:latin typeface="Arial"/>
                <a:cs typeface="Arial"/>
              </a:rPr>
              <a:t> </a:t>
            </a:r>
            <a:r>
              <a:rPr sz="2300" b="1" spc="-50" dirty="0">
                <a:latin typeface="Arial"/>
                <a:cs typeface="Arial"/>
              </a:rPr>
              <a:t>: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800" spc="13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8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300" b="1" dirty="0">
                <a:latin typeface="Arial"/>
                <a:cs typeface="Arial"/>
              </a:rPr>
              <a:t>HTML</a:t>
            </a:r>
            <a:r>
              <a:rPr sz="2300" b="1" spc="-75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Form</a:t>
            </a:r>
            <a:r>
              <a:rPr sz="2300" b="1" spc="-25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→</a:t>
            </a:r>
            <a:r>
              <a:rPr sz="2300" b="1" spc="-10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Flask</a:t>
            </a:r>
            <a:r>
              <a:rPr sz="2300" b="1" spc="-35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Route</a:t>
            </a:r>
            <a:r>
              <a:rPr sz="2300" b="1" spc="-45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→</a:t>
            </a:r>
            <a:r>
              <a:rPr sz="2300" b="1" spc="-10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ML</a:t>
            </a:r>
            <a:r>
              <a:rPr sz="2300" b="1" spc="-70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Model</a:t>
            </a:r>
            <a:r>
              <a:rPr sz="2300" b="1" spc="-45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→</a:t>
            </a:r>
            <a:r>
              <a:rPr sz="2300" b="1" spc="-10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HTML</a:t>
            </a:r>
            <a:r>
              <a:rPr sz="2300" b="1" spc="-75" dirty="0">
                <a:latin typeface="Arial"/>
                <a:cs typeface="Arial"/>
              </a:rPr>
              <a:t> </a:t>
            </a:r>
            <a:r>
              <a:rPr sz="2300" b="1" spc="-10" dirty="0">
                <a:latin typeface="Arial"/>
                <a:cs typeface="Arial"/>
              </a:rPr>
              <a:t>Response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800" spc="13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8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300" dirty="0">
                <a:latin typeface="Arial MT"/>
                <a:cs typeface="Arial MT"/>
              </a:rPr>
              <a:t>Bidirectional</a:t>
            </a:r>
            <a:r>
              <a:rPr sz="2300" spc="-7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flow</a:t>
            </a:r>
            <a:r>
              <a:rPr sz="2300" spc="-4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between</a:t>
            </a:r>
            <a:r>
              <a:rPr sz="2300" spc="-6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chatbot</a:t>
            </a:r>
            <a:r>
              <a:rPr sz="2300" spc="-7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and</a:t>
            </a:r>
            <a:r>
              <a:rPr sz="2300" spc="-50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backend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800" spc="13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8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300" b="1" dirty="0">
                <a:latin typeface="Arial"/>
                <a:cs typeface="Arial"/>
              </a:rPr>
              <a:t>User</a:t>
            </a:r>
            <a:r>
              <a:rPr sz="2300" b="1" spc="-50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Experience</a:t>
            </a:r>
            <a:r>
              <a:rPr sz="2300" b="1" spc="-70" dirty="0">
                <a:latin typeface="Arial"/>
                <a:cs typeface="Arial"/>
              </a:rPr>
              <a:t> </a:t>
            </a:r>
            <a:r>
              <a:rPr sz="2300" b="1" spc="-50" dirty="0">
                <a:latin typeface="Arial"/>
                <a:cs typeface="Arial"/>
              </a:rPr>
              <a:t>: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800" spc="13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8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300" dirty="0">
                <a:latin typeface="Arial MT"/>
                <a:cs typeface="Arial MT"/>
              </a:rPr>
              <a:t>Instant</a:t>
            </a:r>
            <a:r>
              <a:rPr sz="2300" spc="-6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predictions</a:t>
            </a:r>
            <a:r>
              <a:rPr sz="2300" spc="-6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with</a:t>
            </a:r>
            <a:r>
              <a:rPr sz="2300" spc="-4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clear</a:t>
            </a:r>
            <a:r>
              <a:rPr sz="2300" spc="-4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visual</a:t>
            </a:r>
            <a:r>
              <a:rPr sz="2300" spc="-40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insights</a:t>
            </a:r>
            <a:endParaRPr sz="2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800" spc="135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8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300" dirty="0">
                <a:latin typeface="Arial MT"/>
                <a:cs typeface="Arial MT"/>
              </a:rPr>
              <a:t>Natural</a:t>
            </a:r>
            <a:r>
              <a:rPr sz="2300" spc="-5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interaction</a:t>
            </a:r>
            <a:r>
              <a:rPr sz="2300" spc="-7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via</a:t>
            </a:r>
            <a:r>
              <a:rPr sz="2300" spc="-1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chatbot</a:t>
            </a:r>
            <a:r>
              <a:rPr sz="2300" spc="-6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for</a:t>
            </a:r>
            <a:r>
              <a:rPr sz="2300" spc="-35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suggestions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Deployments</a:t>
            </a:r>
            <a:r>
              <a:rPr spc="-110" dirty="0"/>
              <a:t> </a:t>
            </a:r>
            <a:r>
              <a:rPr dirty="0"/>
              <a:t>on</a:t>
            </a:r>
            <a:r>
              <a:rPr spc="-245" dirty="0"/>
              <a:t> </a:t>
            </a:r>
            <a:r>
              <a:rPr spc="-10" dirty="0"/>
              <a:t>Azure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3335" y="1353692"/>
            <a:ext cx="9803765" cy="285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8159" marR="391795" indent="-506095">
              <a:lnSpc>
                <a:spcPct val="134600"/>
              </a:lnSpc>
              <a:spcBef>
                <a:spcPts val="100"/>
              </a:spcBef>
              <a:buAutoNum type="arabicPeriod"/>
              <a:tabLst>
                <a:tab pos="518159" algn="l"/>
                <a:tab pos="2958465" algn="l"/>
                <a:tab pos="5771515" algn="l"/>
              </a:tabLst>
            </a:pPr>
            <a:r>
              <a:rPr sz="2400" dirty="0">
                <a:latin typeface="Arial MT"/>
                <a:cs typeface="Arial MT"/>
              </a:rPr>
              <a:t>create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resources</a:t>
            </a:r>
            <a:r>
              <a:rPr sz="2400" dirty="0">
                <a:latin typeface="Arial MT"/>
                <a:cs typeface="Arial MT"/>
              </a:rPr>
              <a:t>	=&gt;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web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app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service</a:t>
            </a:r>
            <a:r>
              <a:rPr sz="2400" dirty="0">
                <a:latin typeface="Arial MT"/>
                <a:cs typeface="Arial MT"/>
              </a:rPr>
              <a:t>	=&gt;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Runtime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stack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python </a:t>
            </a:r>
            <a:r>
              <a:rPr sz="2400" dirty="0">
                <a:latin typeface="Arial MT"/>
                <a:cs typeface="Arial MT"/>
              </a:rPr>
              <a:t>use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free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tier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version</a:t>
            </a:r>
            <a:endParaRPr sz="2400">
              <a:latin typeface="Arial MT"/>
              <a:cs typeface="Arial MT"/>
            </a:endParaRPr>
          </a:p>
          <a:p>
            <a:pPr marL="520065" indent="-507365">
              <a:lnSpc>
                <a:spcPct val="100000"/>
              </a:lnSpc>
              <a:spcBef>
                <a:spcPts val="994"/>
              </a:spcBef>
              <a:buAutoNum type="arabicPeriod"/>
              <a:tabLst>
                <a:tab pos="520065" algn="l"/>
              </a:tabLst>
            </a:pPr>
            <a:r>
              <a:rPr sz="2400" dirty="0">
                <a:latin typeface="Arial MT"/>
                <a:cs typeface="Arial MT"/>
              </a:rPr>
              <a:t>Deployement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Center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=&gt;</a:t>
            </a:r>
            <a:r>
              <a:rPr sz="2400" spc="-1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Authenticated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Github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=&gt;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select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User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=&gt;</a:t>
            </a:r>
            <a:endParaRPr sz="24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</a:pPr>
            <a:r>
              <a:rPr sz="2400" dirty="0">
                <a:latin typeface="Arial MT"/>
                <a:cs typeface="Arial MT"/>
              </a:rPr>
              <a:t>Repository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=&gt;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branch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=&gt;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main</a:t>
            </a:r>
            <a:endParaRPr sz="2400">
              <a:latin typeface="Arial MT"/>
              <a:cs typeface="Arial MT"/>
            </a:endParaRPr>
          </a:p>
          <a:p>
            <a:pPr marL="518795" indent="-506095">
              <a:lnSpc>
                <a:spcPct val="100000"/>
              </a:lnSpc>
              <a:spcBef>
                <a:spcPts val="1010"/>
              </a:spcBef>
              <a:buAutoNum type="arabicPeriod" startAt="3"/>
              <a:tabLst>
                <a:tab pos="518795" algn="l"/>
              </a:tabLst>
            </a:pPr>
            <a:r>
              <a:rPr sz="2400" dirty="0">
                <a:latin typeface="Arial MT"/>
                <a:cs typeface="Arial MT"/>
              </a:rPr>
              <a:t>From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overview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able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access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hosted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URL</a:t>
            </a:r>
            <a:endParaRPr sz="2400">
              <a:latin typeface="Arial MT"/>
              <a:cs typeface="Arial MT"/>
            </a:endParaRPr>
          </a:p>
          <a:p>
            <a:pPr marL="518159" indent="-505459">
              <a:lnSpc>
                <a:spcPct val="100000"/>
              </a:lnSpc>
              <a:spcBef>
                <a:spcPts val="994"/>
              </a:spcBef>
              <a:buAutoNum type="arabicPeriod" startAt="3"/>
              <a:tabLst>
                <a:tab pos="518159" algn="l"/>
              </a:tabLst>
            </a:pP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help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hosted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URL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are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able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access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project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001" y="160401"/>
            <a:ext cx="654494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18740" algn="l"/>
                <a:tab pos="5139055" algn="l"/>
              </a:tabLst>
            </a:pPr>
            <a:r>
              <a:rPr dirty="0"/>
              <a:t>Results</a:t>
            </a:r>
            <a:r>
              <a:rPr spc="-125" dirty="0"/>
              <a:t> </a:t>
            </a:r>
            <a:r>
              <a:rPr spc="-50" dirty="0"/>
              <a:t>&amp;</a:t>
            </a:r>
            <a:r>
              <a:rPr dirty="0"/>
              <a:t>	</a:t>
            </a:r>
            <a:r>
              <a:rPr spc="-10" dirty="0"/>
              <a:t>Business</a:t>
            </a:r>
            <a:r>
              <a:rPr dirty="0"/>
              <a:t>	</a:t>
            </a:r>
            <a:r>
              <a:rPr spc="-45" dirty="0"/>
              <a:t>Value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9026" y="1379738"/>
            <a:ext cx="10457815" cy="446087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b="1" dirty="0">
                <a:latin typeface="Arial"/>
                <a:cs typeface="Arial"/>
              </a:rPr>
              <a:t>1.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Key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Findings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b="1" spc="-20" dirty="0">
                <a:latin typeface="Arial"/>
                <a:cs typeface="Arial"/>
              </a:rPr>
              <a:t>Top</a:t>
            </a:r>
            <a:r>
              <a:rPr sz="2400" b="1" spc="-9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overspending</a:t>
            </a:r>
            <a:r>
              <a:rPr sz="2400" b="1" spc="-6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drivers</a:t>
            </a:r>
            <a:r>
              <a:rPr sz="2400" dirty="0">
                <a:latin typeface="Arial MT"/>
                <a:cs typeface="Arial MT"/>
              </a:rPr>
              <a:t>: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Eating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Out,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Entertainment,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Miscellaneous.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Arial MT"/>
                <a:cs typeface="Arial MT"/>
              </a:rPr>
              <a:t>Users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with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loans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+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high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rent%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show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consistently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lower</a:t>
            </a:r>
            <a:r>
              <a:rPr sz="2400" b="1" spc="-8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savings</a:t>
            </a:r>
            <a:r>
              <a:rPr sz="2400" spc="-10" dirty="0">
                <a:latin typeface="Arial MT"/>
                <a:cs typeface="Arial MT"/>
              </a:rPr>
              <a:t>.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b="1" dirty="0">
                <a:latin typeface="Arial"/>
                <a:cs typeface="Arial"/>
              </a:rPr>
              <a:t>2.</a:t>
            </a:r>
            <a:r>
              <a:rPr sz="2400" b="1" spc="-2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Model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Performance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b="1" dirty="0">
                <a:latin typeface="Arial"/>
                <a:cs typeface="Arial"/>
              </a:rPr>
              <a:t>Overspending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Detection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b="1" dirty="0">
                <a:latin typeface="Arial"/>
                <a:cs typeface="Arial"/>
              </a:rPr>
              <a:t>Savings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Rate</a:t>
            </a:r>
            <a:r>
              <a:rPr sz="2400" b="1" spc="-7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Prediction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b="1" dirty="0">
                <a:latin typeface="Arial"/>
                <a:cs typeface="Arial"/>
              </a:rPr>
              <a:t>3.</a:t>
            </a:r>
            <a:r>
              <a:rPr sz="2400" b="1" spc="-4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Business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Recommendations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Arial MT"/>
                <a:cs typeface="Arial MT"/>
              </a:rPr>
              <a:t>Push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i="1" dirty="0">
                <a:latin typeface="Arial"/>
                <a:cs typeface="Arial"/>
              </a:rPr>
              <a:t>personalized</a:t>
            </a:r>
            <a:r>
              <a:rPr sz="2400" i="1" spc="-40" dirty="0"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nudges</a:t>
            </a:r>
            <a:r>
              <a:rPr sz="2400" i="1" spc="-60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to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cut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top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overspend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categories.</a:t>
            </a:r>
            <a:endParaRPr sz="2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90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z="2400" dirty="0">
                <a:latin typeface="Arial MT"/>
                <a:cs typeface="Arial MT"/>
              </a:rPr>
              <a:t>Partner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features: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insurance/loan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refinance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suggestions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high-</a:t>
            </a:r>
            <a:r>
              <a:rPr sz="2400" dirty="0">
                <a:latin typeface="Arial MT"/>
                <a:cs typeface="Arial MT"/>
              </a:rPr>
              <a:t>loan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users.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001" y="160401"/>
            <a:ext cx="654494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18740" algn="l"/>
                <a:tab pos="5139055" algn="l"/>
              </a:tabLst>
            </a:pPr>
            <a:r>
              <a:rPr dirty="0"/>
              <a:t>Results</a:t>
            </a:r>
            <a:r>
              <a:rPr spc="-125" dirty="0"/>
              <a:t> </a:t>
            </a:r>
            <a:r>
              <a:rPr spc="-50" dirty="0"/>
              <a:t>&amp;</a:t>
            </a:r>
            <a:r>
              <a:rPr dirty="0"/>
              <a:t>	</a:t>
            </a:r>
            <a:r>
              <a:rPr spc="-10" dirty="0"/>
              <a:t>Business</a:t>
            </a:r>
            <a:r>
              <a:rPr dirty="0"/>
              <a:t>	</a:t>
            </a:r>
            <a:r>
              <a:rPr spc="-45" dirty="0"/>
              <a:t>Value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  <a:tabLst>
                <a:tab pos="354965" algn="l"/>
              </a:tabLst>
            </a:pPr>
            <a:r>
              <a:rPr sz="1900" b="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b="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/>
              <a:t>4.</a:t>
            </a:r>
            <a:r>
              <a:rPr spc="-45" dirty="0"/>
              <a:t> </a:t>
            </a:r>
            <a:r>
              <a:rPr dirty="0"/>
              <a:t>Future</a:t>
            </a:r>
            <a:r>
              <a:rPr spc="-45" dirty="0"/>
              <a:t> </a:t>
            </a:r>
            <a:r>
              <a:rPr dirty="0"/>
              <a:t>Enhancements</a:t>
            </a:r>
            <a:r>
              <a:rPr spc="-20" dirty="0"/>
              <a:t> </a:t>
            </a:r>
            <a:r>
              <a:rPr dirty="0"/>
              <a:t>(Easy</a:t>
            </a:r>
            <a:r>
              <a:rPr spc="-25" dirty="0"/>
              <a:t> </a:t>
            </a:r>
            <a:r>
              <a:rPr dirty="0"/>
              <a:t>&amp;</a:t>
            </a:r>
            <a:r>
              <a:rPr spc="-40" dirty="0"/>
              <a:t> </a:t>
            </a:r>
            <a:r>
              <a:rPr spc="-10" dirty="0"/>
              <a:t>Practical)</a:t>
            </a:r>
            <a:endParaRPr sz="19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900" b="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b="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/>
              <a:t>Auto</a:t>
            </a:r>
            <a:r>
              <a:rPr spc="-65" dirty="0"/>
              <a:t> </a:t>
            </a:r>
            <a:r>
              <a:rPr dirty="0"/>
              <a:t>email/SMS</a:t>
            </a:r>
            <a:r>
              <a:rPr spc="-60" dirty="0"/>
              <a:t> </a:t>
            </a:r>
            <a:r>
              <a:rPr dirty="0"/>
              <a:t>reminders</a:t>
            </a:r>
            <a:r>
              <a:rPr spc="-50" dirty="0"/>
              <a:t> </a:t>
            </a:r>
            <a:r>
              <a:rPr b="0" dirty="0">
                <a:latin typeface="Arial MT"/>
                <a:cs typeface="Arial MT"/>
              </a:rPr>
              <a:t>when</a:t>
            </a:r>
            <a:r>
              <a:rPr b="0" spc="-4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user</a:t>
            </a:r>
            <a:r>
              <a:rPr b="0" spc="-4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crosses</a:t>
            </a:r>
            <a:r>
              <a:rPr b="0" spc="-5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a</a:t>
            </a:r>
            <a:r>
              <a:rPr b="0" spc="-6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spend</a:t>
            </a:r>
            <a:r>
              <a:rPr b="0" spc="-45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limit</a:t>
            </a:r>
            <a:endParaRPr sz="19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900" b="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b="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pc="-10" dirty="0"/>
              <a:t>One-</a:t>
            </a:r>
            <a:r>
              <a:rPr dirty="0"/>
              <a:t>click</a:t>
            </a:r>
            <a:r>
              <a:rPr spc="-70" dirty="0"/>
              <a:t> </a:t>
            </a:r>
            <a:r>
              <a:rPr dirty="0"/>
              <a:t>Excel/PDF</a:t>
            </a:r>
            <a:r>
              <a:rPr spc="-35" dirty="0"/>
              <a:t> </a:t>
            </a:r>
            <a:r>
              <a:rPr dirty="0"/>
              <a:t>export</a:t>
            </a:r>
            <a:r>
              <a:rPr spc="-50" dirty="0"/>
              <a:t> </a:t>
            </a:r>
            <a:r>
              <a:rPr b="0" dirty="0">
                <a:latin typeface="Arial MT"/>
                <a:cs typeface="Arial MT"/>
              </a:rPr>
              <a:t>of</a:t>
            </a:r>
            <a:r>
              <a:rPr b="0" spc="-5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monthly</a:t>
            </a:r>
            <a:r>
              <a:rPr b="0" spc="-45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report</a:t>
            </a:r>
            <a:endParaRPr sz="19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  <a:tabLst>
                <a:tab pos="354965" algn="l"/>
              </a:tabLst>
            </a:pPr>
            <a:r>
              <a:rPr sz="1900" b="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b="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pc="-10" dirty="0"/>
              <a:t>Category-</a:t>
            </a:r>
            <a:r>
              <a:rPr dirty="0"/>
              <a:t>wise</a:t>
            </a:r>
            <a:r>
              <a:rPr spc="-5" dirty="0"/>
              <a:t> </a:t>
            </a:r>
            <a:r>
              <a:rPr dirty="0"/>
              <a:t>tips</a:t>
            </a:r>
            <a:r>
              <a:rPr spc="-35" dirty="0"/>
              <a:t> </a:t>
            </a:r>
            <a:r>
              <a:rPr b="0" dirty="0">
                <a:latin typeface="Arial MT"/>
                <a:cs typeface="Arial MT"/>
              </a:rPr>
              <a:t>(e.g.,</a:t>
            </a:r>
            <a:r>
              <a:rPr b="0" spc="-2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“Cut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spc="-25" dirty="0">
                <a:latin typeface="Arial MT"/>
                <a:cs typeface="Arial MT"/>
              </a:rPr>
              <a:t>eating-</a:t>
            </a:r>
            <a:r>
              <a:rPr b="0" dirty="0">
                <a:latin typeface="Arial MT"/>
                <a:cs typeface="Arial MT"/>
              </a:rPr>
              <a:t>out</a:t>
            </a:r>
            <a:r>
              <a:rPr b="0" spc="1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by</a:t>
            </a:r>
            <a:r>
              <a:rPr b="0" spc="-1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10%</a:t>
            </a:r>
            <a:r>
              <a:rPr b="0" spc="-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to</a:t>
            </a:r>
            <a:r>
              <a:rPr b="0" spc="-20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hit</a:t>
            </a:r>
            <a:r>
              <a:rPr b="0" spc="-2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your </a:t>
            </a:r>
            <a:r>
              <a:rPr b="0" spc="-10" dirty="0">
                <a:latin typeface="Arial MT"/>
                <a:cs typeface="Arial MT"/>
              </a:rPr>
              <a:t>goal”)</a:t>
            </a:r>
            <a:endParaRPr sz="19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354965" algn="l"/>
              </a:tabLst>
            </a:pPr>
            <a:r>
              <a:rPr sz="1900" b="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b="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dirty="0"/>
              <a:t>User</a:t>
            </a:r>
            <a:r>
              <a:rPr spc="-35" dirty="0"/>
              <a:t> </a:t>
            </a:r>
            <a:r>
              <a:rPr dirty="0"/>
              <a:t>login</a:t>
            </a:r>
            <a:r>
              <a:rPr spc="-70" dirty="0"/>
              <a:t> </a:t>
            </a:r>
            <a:r>
              <a:rPr dirty="0"/>
              <a:t>+</a:t>
            </a:r>
            <a:r>
              <a:rPr spc="-50" dirty="0"/>
              <a:t> </a:t>
            </a:r>
            <a:r>
              <a:rPr dirty="0"/>
              <a:t>history</a:t>
            </a:r>
            <a:r>
              <a:rPr spc="-40" dirty="0"/>
              <a:t> </a:t>
            </a:r>
            <a:r>
              <a:rPr dirty="0"/>
              <a:t>tracking</a:t>
            </a:r>
            <a:r>
              <a:rPr spc="-50" dirty="0"/>
              <a:t> </a:t>
            </a:r>
            <a:r>
              <a:rPr b="0" dirty="0">
                <a:latin typeface="Arial MT"/>
                <a:cs typeface="Arial MT"/>
              </a:rPr>
              <a:t>(see</a:t>
            </a:r>
            <a:r>
              <a:rPr b="0" spc="-3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past</a:t>
            </a:r>
            <a:r>
              <a:rPr b="0" spc="-45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months’</a:t>
            </a:r>
            <a:r>
              <a:rPr b="0" spc="-130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trends)</a:t>
            </a:r>
            <a:endParaRPr sz="19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354965" algn="l"/>
              </a:tabLst>
            </a:pPr>
            <a:r>
              <a:rPr sz="1900" b="0" spc="114" dirty="0">
                <a:solidFill>
                  <a:srgbClr val="89D0D5"/>
                </a:solidFill>
                <a:latin typeface="Lucida Sans Unicode"/>
                <a:cs typeface="Lucida Sans Unicode"/>
              </a:rPr>
              <a:t>▶</a:t>
            </a:r>
            <a:r>
              <a:rPr sz="1900" b="0" dirty="0">
                <a:solidFill>
                  <a:srgbClr val="89D0D5"/>
                </a:solidFill>
                <a:latin typeface="Lucida Sans Unicode"/>
                <a:cs typeface="Lucida Sans Unicode"/>
              </a:rPr>
              <a:t>	</a:t>
            </a:r>
            <a:r>
              <a:rPr spc="-10" dirty="0"/>
              <a:t>Mobile-</a:t>
            </a:r>
            <a:r>
              <a:rPr dirty="0"/>
              <a:t>friendly</a:t>
            </a:r>
            <a:r>
              <a:rPr spc="-50" dirty="0"/>
              <a:t> </a:t>
            </a:r>
            <a:r>
              <a:rPr dirty="0"/>
              <a:t>UI</a:t>
            </a:r>
            <a:r>
              <a:rPr spc="-10" dirty="0"/>
              <a:t> </a:t>
            </a:r>
            <a:r>
              <a:rPr dirty="0"/>
              <a:t>/</a:t>
            </a:r>
            <a:r>
              <a:rPr spc="-114" dirty="0"/>
              <a:t> </a:t>
            </a:r>
            <a:r>
              <a:rPr dirty="0"/>
              <a:t>Android</a:t>
            </a:r>
            <a:r>
              <a:rPr spc="-20" dirty="0"/>
              <a:t> </a:t>
            </a:r>
            <a:r>
              <a:rPr dirty="0"/>
              <a:t>app</a:t>
            </a:r>
            <a:r>
              <a:rPr spc="-15" dirty="0"/>
              <a:t> </a:t>
            </a:r>
            <a:r>
              <a:rPr spc="-10" dirty="0"/>
              <a:t>later</a:t>
            </a:r>
            <a:endParaRPr sz="1900" dirty="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757</Words>
  <Application>Microsoft Office PowerPoint</Application>
  <PresentationFormat>Widescreen</PresentationFormat>
  <Paragraphs>87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MT</vt:lpstr>
      <vt:lpstr>Lucida Sans Unicode</vt:lpstr>
      <vt:lpstr>Tahoma</vt:lpstr>
      <vt:lpstr>Office Theme</vt:lpstr>
      <vt:lpstr>PowerPoint Presentation</vt:lpstr>
      <vt:lpstr>Project Overview</vt:lpstr>
      <vt:lpstr>Architecture Flow</vt:lpstr>
      <vt:lpstr>Data Preprocessing(ETL)</vt:lpstr>
      <vt:lpstr>Exploratory Data Analysis &amp; Insights</vt:lpstr>
      <vt:lpstr>ML Implementation</vt:lpstr>
      <vt:lpstr>Application Development</vt:lpstr>
      <vt:lpstr>Deployments on Azure</vt:lpstr>
      <vt:lpstr>Results &amp; Business Value</vt:lpstr>
      <vt:lpstr>Results &amp; Business Value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Shubham Talele</dc:creator>
  <cp:lastModifiedBy>Muskan chauhan</cp:lastModifiedBy>
  <cp:revision>1</cp:revision>
  <dcterms:created xsi:type="dcterms:W3CDTF">2026-03-07T12:03:09Z</dcterms:created>
  <dcterms:modified xsi:type="dcterms:W3CDTF">2026-03-07T12:07:10Z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2025-07-28T00:00:00Z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2026-03-07T00:00:00Z</vt:filetime>
  </property>
  <property fmtid="{D5CDD505-2E9C-101B-9397-08002B2CF9AE}" pid="5" name="Producer">
    <vt:lpwstr>Microsoft® PowerPoint® 2021</vt:lpwstr>
  </property>
</Properties>
</file>